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62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3474720" cy="1645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502920"/>
            <a:ext cx="914400" cy="685800"/>
          </a:xfrm>
          <a:prstGeom prst="ellipse">
            <a:avLst/>
          </a:prstGeom>
          <a:solidFill>
            <a:srgbClr val="1B2D5F"/>
          </a:solidFill>
          <a:ln w="38100">
            <a:solidFill>
              <a:srgbClr val="D6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005840"/>
            <a:ext cx="1371600" cy="100584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261872"/>
            <a:ext cx="502920" cy="502920"/>
          </a:xfrm>
          <a:prstGeom prst="ellipse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502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Secure Text Steganography Using</a:t>
            </a:r>
          </a:p>
        </p:txBody>
      </p:sp>
      <p:sp>
        <p:nvSpPr>
          <p:cNvPr id="8" name="Text 6"/>
          <p:cNvSpPr/>
          <p:nvPr/>
        </p:nvSpPr>
        <p:spPr>
          <a:xfrm>
            <a:off x="3703320" y="1065979"/>
            <a:ext cx="534220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</a:t>
            </a:r>
            <a:r>
              <a:rPr lang="en-US" sz="2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and Encryption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49040" y="1719072"/>
            <a:ext cx="5120640" cy="2743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810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Steganographic Encryption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2423160"/>
            <a:ext cx="5120640" cy="384048"/>
          </a:xfrm>
          <a:prstGeom prst="rect">
            <a:avLst/>
          </a:prstGeom>
          <a:solidFill>
            <a:srgbClr val="F4F8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23BAI1188   M. Reddy Sasi Kiran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2898648"/>
            <a:ext cx="5120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926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23BAI1222   V. Jawahar Raju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3374136"/>
            <a:ext cx="5120640" cy="384048"/>
          </a:xfrm>
          <a:prstGeom prst="rect">
            <a:avLst/>
          </a:prstGeom>
          <a:solidFill>
            <a:srgbClr val="F4F8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401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23BAI1187   C.R. Suhas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|  School of Computing Sciences &amp; Engineering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716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Prof. Radhika Selvamani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" y="4041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CSE  |  Scope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This Be Applied?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417320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417320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Comms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" y="180136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and activists embed secrets in plain social media posts — no suspicious encrypted files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88970" y="1415444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8970" y="1415444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5274" y="14885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5274" y="179949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Publishers hide invisible ownership signatures inside distributed text to track leaks and piracy.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53912" y="1399032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58484" y="1399032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Command Channels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0528" y="180136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researchers test covert C2 channels inside normal-looking web traffic or chat messages.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3017520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4592" y="3017520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0906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Evidence Tagging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0896" y="340156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or forensic teams embed invisible metadata inside document copies to trace unauthorized sharing.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8970" y="3015644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8970" y="3015644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5274" y="30887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Restricted-Environment Messaging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35274" y="339969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censored or monitored networks, users carry hidden payloads inside innocuous public text.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53912" y="3017520"/>
            <a:ext cx="2761488" cy="1417320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8484" y="3017520"/>
            <a:ext cx="59436" cy="14173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30906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QR / NFC Payloads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0528" y="340156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encrypted annotations embedded into visible product descriptions for tamper-proof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Invisible-Text Embedding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03020"/>
            <a:ext cx="4069080" cy="3337560"/>
          </a:xfrm>
          <a:prstGeom prst="rect">
            <a:avLst/>
          </a:prstGeom>
          <a:solidFill>
            <a:srgbClr val="FAFC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03020"/>
            <a:ext cx="4069080" cy="329184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30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78508"/>
            <a:ext cx="237744" cy="237744"/>
          </a:xfrm>
          <a:prstGeom prst="ellipse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17693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hidden text to UTF-8 bytes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272284"/>
            <a:ext cx="237744" cy="237744"/>
          </a:xfrm>
          <a:prstGeom prst="ellipse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722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2631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bits to 2 invisible chars: 0 → \u200b,  1 → \u200c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66060"/>
            <a:ext cx="237744" cy="237744"/>
          </a:xfrm>
          <a:prstGeom prst="ellipse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660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7569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encryption, no key, no salt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259836"/>
            <a:ext cx="237744" cy="237744"/>
          </a:xfrm>
          <a:prstGeom prst="ellipse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598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2506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invisible block to END of message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753612"/>
            <a:ext cx="237744" cy="237744"/>
          </a:xfrm>
          <a:prstGeom prst="ellipse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53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7444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hello world\u200b\u200c\u200b...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303020"/>
            <a:ext cx="4251960" cy="3337560"/>
          </a:xfrm>
          <a:prstGeom prst="rect">
            <a:avLst/>
          </a:prstGeom>
          <a:solidFill>
            <a:srgbClr val="FFF8F8"/>
          </a:solidFill>
          <a:ln w="12700">
            <a:solidFill>
              <a:srgbClr val="F0C8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303020"/>
            <a:ext cx="4251960" cy="32918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030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methods wont work</a:t>
            </a:r>
          </a:p>
        </p:txBody>
      </p:sp>
      <p:sp>
        <p:nvSpPr>
          <p:cNvPr id="29" name="Text 27"/>
          <p:cNvSpPr/>
          <p:nvPr/>
        </p:nvSpPr>
        <p:spPr>
          <a:xfrm>
            <a:off x="4754880" y="17785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Trimming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19613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strip whitespace &amp; invisible chars at end of text — entire payload gone.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22722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24551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NFC/NFKC normalization collapses or removes redundant invisible characters.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27660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Filtering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29489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\u200b blocks look like noise — bulk-removed by messaging pipelines.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2598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4427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invisible block at a predictable position is trivial to detect and strip.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37536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Safety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39364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partial removal outputs garbage — no integrity check to catch corruption.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be solved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9304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89304"/>
            <a:ext cx="658368" cy="5669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8930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32588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Confidentiality in Naive Stego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5636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embed raw bits — any observer who extracts invisible chars reads the secret directly. No cryptographic protection exists.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47672"/>
            <a:ext cx="658368" cy="5669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4767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198424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 Stripping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221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Gmail, and Google Docs normalize Unicode and trim trailing invisibles, destroying naively embedded payloads during transit.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06040"/>
            <a:ext cx="658368" cy="5669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06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6426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Integrity Verification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880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authentication, single-character corruption produces silent garbage output — receiver cannot detect tampering or wrong passwords.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6440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64408"/>
            <a:ext cx="658368" cy="5669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6440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300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Embedding Position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5387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placement and repeated identical invisible symbols form detectable statistical patterns, making the presence of hidden data obvious.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22776"/>
            <a:ext cx="658368" cy="5669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2277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9593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Key Management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1970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 of user-supplied passwords as keys is trivially brute-forceable; no salt, no hardening, no key-stretching is applied.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Encryption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transformation of secret text into carrier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1234440" cy="640080"/>
          </a:xfrm>
          <a:prstGeom prst="rect">
            <a:avLst/>
          </a:prstGeom>
          <a:solidFill>
            <a:srgbClr val="E8F4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08760" y="1764792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1444752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Bytes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9928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bytes.js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44368" y="1764792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444752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45536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compress.js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79976" y="1764792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444752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NOT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81144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compliment.js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15584" y="1764792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1444752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(8B)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crypto.random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51192" y="1764792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444752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52360" y="17922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pbkdf2.js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52360" y="2834640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AES-256-CTR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aesCtr.js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51192" y="3154680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16752" y="2834640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hmac.js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15584" y="3154680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81144" y="2834640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Build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81144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salt+hmac+cipher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79976" y="3154680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45536" y="2834640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5536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Encode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45536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encode.js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944368" y="3154680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9928" y="2834640"/>
            <a:ext cx="1234440" cy="640080"/>
          </a:xfrm>
          <a:prstGeom prst="rect">
            <a:avLst/>
          </a:prstGeom>
          <a:solidFill>
            <a:srgbClr val="F4F8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09928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709928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shrink.js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508760" y="3154680"/>
            <a:ext cx="201168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834640"/>
            <a:ext cx="1234440" cy="640080"/>
          </a:xfrm>
          <a:prstGeom prst="rect">
            <a:avLst/>
          </a:prstGeom>
          <a:solidFill>
            <a:srgbClr val="E8F8EE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29077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3182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embed.js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787384" y="1764792"/>
            <a:ext cx="0" cy="1389888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" y="4082796"/>
            <a:ext cx="8595360" cy="292608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0827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flow: Secret Text  →  UTF-8  →  Compress  →  Bitwise NOT  →  Salt  →  PBKDF2  →  AES-CTR  →  HMAC  →  Payload  →  ZWC Encode  →  Shrink  →  Embed  →  Carrier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Encryption: Steps 1–6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encrypted ciphertext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1453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to UTF-8 Bytes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vit"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[104,101,108,108,111,32,118,105,116]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20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TextEncoder converts text to byte array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functions operate on bytes, not strings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17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1453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(deflate)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38928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byte array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byte array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38928" y="1920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CompressionStream (deflate) if supported; else raw bytes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38928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payload size — smaller = fewer invisible characters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624328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24328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24328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" y="2660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NOT Transformation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28986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bytes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bytes (transformed)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3127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byte: b → ~b (flip all bits)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" y="3355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obfuscation layer before encryption; reversed on reveal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24328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624328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24328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38928" y="2660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Generation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8986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(8 bytes)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38928" y="3127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crypto.getRandomValues() generates 8 random bytes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38928" y="3355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PBKDF2 output is unique each run; prevents precomputed attacks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31336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831336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831336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9808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 Derivation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+ salt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(first 16B) + AES key (next 32B)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with SHA-512, 10,000 iterations → 48 derived bytes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808" y="4562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weak 5-digit password into strong crypto material; same inputs = same key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831336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831336"/>
            <a:ext cx="384048" cy="1078992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831336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38928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AES-256-CTR Encryption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bytes + AES key + IV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(same length as input)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38928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keystream from (IV + counter), XOR with plaintext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38928" y="4562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padding needed; stream-friendly; length-preserving for ZWC encoding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Encryption: Steps 7–12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HMAC to final embedded carrier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1453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(Integrity)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bytes + AES key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32-byte authentication tag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1920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HMAC-SHA256(key, prepared_bytes)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wrong password, tampering, or corruption at decryption 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17320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1453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Construction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38928" y="1691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+ hmac + ciphertext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payload_bytes (structured binary)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38928" y="1920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in fixed order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38928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all recovery data; salt+hmac+cipher split is known at both ends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624328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24328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24328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" y="2660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→ 2-bit Splitting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28986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payload_bytes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stream (4× length of payload)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3127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 → 4 chunks of 2 bits (MSB-first)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" y="3355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alphabet has 4 symbols; 2-bit chunks map 1-to-1 to each symbol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24328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624328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24328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38928" y="26609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→ Zero-Width Chars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8986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2-bit chunks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Unicode character stream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38928" y="3127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00→\u200c  01→\u200d  10→\u2061  11→\u2062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38928" y="3355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Unicode invisibles survive most text pipelines; look like normal text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31336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831336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831336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9808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Optimization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stream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less-repetitive invisible stream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repeat pairs; replace with \u2063 / \u2064 tokens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808" y="4562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payload size and breaks obvious repetition patterns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831336"/>
            <a:ext cx="4160520" cy="1078992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831336"/>
            <a:ext cx="384048" cy="1078992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831336"/>
            <a:ext cx="384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38928" y="3867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into Cover Text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38928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text + invisible stream  </a:t>
            </a: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text (looks normal, contains hidden payload)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38928" y="43342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words; pick random index in first half; inject invisible stream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38928" y="4562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Non-trailing placement survives trimming; blends naturally into visible text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Encryption Flow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637" y="1028524"/>
            <a:ext cx="1645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022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47557" y="1314450"/>
            <a:ext cx="1371600" cy="457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8942" y="13399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47557" y="19888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557" y="19888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Bytes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47557" y="26746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557" y="26746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47557" y="33604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557" y="33604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NOT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47557" y="40462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557" y="40462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Gen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557" y="40462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557" y="40462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33557" y="33604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33557" y="33604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AES-CTR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33557" y="26746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3557" y="26746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33557" y="19888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33557" y="19888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Build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8117" y="19888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8117" y="19888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Encode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28117" y="26746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8117" y="26746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8117" y="336042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8117" y="33604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8117" y="4046220"/>
            <a:ext cx="1371600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8117" y="40462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33357" y="17602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3357" y="24460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3357" y="31318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3357" y="38176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19157" y="4274820"/>
            <a:ext cx="914400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9357" y="38176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9357" y="31318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9357" y="24460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05157" y="2217420"/>
            <a:ext cx="822960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13917" y="24460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13917" y="31318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13917" y="381762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Decryption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recovery from carrier to secret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8458" y="1188720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458" y="1188720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458" y="1188720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7370" y="12161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Invisible Stream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7370" y="1417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text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words for ZWC chars; extract invisible prefix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7370" y="1636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invisible_stream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lives only in invisible characters; visible text is ignored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7578" y="1188720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7578" y="1188720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7578" y="1188720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96490" y="121615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(Reverse Shrink)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96490" y="1417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invisible_stream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compression flag; restore shortened token pairs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6490" y="1636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original_zwc_stream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undo shrink before decoding; flag in first char identifies pairs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8458" y="2075688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8458" y="2075688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458" y="2075688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7370" y="21031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→ Bytes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7370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zwc_stream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 chars → 1 byte via 2-bit reverse mapping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7370" y="25237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payload_bytes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exact binary payload ready for splitting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57578" y="2075688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57578" y="2075688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7578" y="2075688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6490" y="21031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Payload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96490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payload_bytes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= [0:8]   hmac = [8:40]   ciphertext = [40:]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96490" y="25237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salt, hmac, ciphertext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structure set during encryption; enables targeted extraction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8458" y="2962656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8458" y="2962656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458" y="2962656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7370" y="29900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(same params)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7370" y="3191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+ extracted salt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SHA-512, 10,000 iter → 48B; split into IV + AES key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7370" y="3410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(16B) + AES key (32B)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inputs → same key/IV; enables correct decryption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57578" y="2962656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7578" y="2962656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57578" y="2962656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96490" y="29900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AES-256-CTR Decrypt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96490" y="31912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+ key + IV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same keystream; XOR with ciphertext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96490" y="34107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prepared_bytes (pre-encryption state)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decryption = re-encryption; inverse is identical operation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8458" y="3849624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8458" y="3849624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8458" y="3849624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7370" y="38770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Verification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07370" y="40782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prepared_bytes + key + stored hmac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HMAC; constant-time compare with stored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7370" y="4297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continue   |   Mismatch → reject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wrong password, tampering, or platform corruption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57578" y="3849624"/>
            <a:ext cx="4160520" cy="7955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57578" y="3849624"/>
            <a:ext cx="347472" cy="795528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57578" y="3849624"/>
            <a:ext cx="347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96490" y="38770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NOT + Decompress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96490" y="40782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prepared_bytes (if valid)    </a:t>
            </a: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~b on each byte, then deflate decompress back to string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96490" y="4297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secret text    </a:t>
            </a: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9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preprocessing; final step restores human-readable message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Decryption Flow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43000"/>
            <a:ext cx="1371600" cy="457200"/>
          </a:xfrm>
          <a:prstGeom prst="rect">
            <a:avLst/>
          </a:prstGeom>
          <a:solidFill>
            <a:srgbClr val="DBEA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43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ZWC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25146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2004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ZWC → Bytes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8862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Payload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38862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32004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AES-CTR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51460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1" y="1227172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1" y="1205601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NOT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2349" y="1211990"/>
            <a:ext cx="1371600" cy="457200"/>
          </a:xfrm>
          <a:prstGeom prst="rect">
            <a:avLst/>
          </a:prstGeom>
          <a:solidFill>
            <a:srgbClr val="EEF4FF"/>
          </a:solidFill>
          <a:ln w="19050">
            <a:solidFill>
              <a:srgbClr val="2E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2349" y="121175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2349" y="1900721"/>
            <a:ext cx="1371600" cy="457200"/>
          </a:xfrm>
          <a:prstGeom prst="rect">
            <a:avLst/>
          </a:prstGeom>
          <a:solidFill>
            <a:srgbClr val="DCFCE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2349" y="192791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Text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54480" y="16002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54480" y="22860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29718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36576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0280" y="4114800"/>
            <a:ext cx="914400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36576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29718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228600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1" y="1470895"/>
            <a:ext cx="822960" cy="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8149" y="1669190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85945" y="2576145"/>
            <a:ext cx="196596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7989" y="2567355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Fail → Reject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26280" y="2743200"/>
            <a:ext cx="0" cy="0"/>
          </a:xfrm>
          <a:prstGeom prst="line">
            <a:avLst/>
          </a:prstGeom>
          <a:noFill/>
          <a:ln w="12700">
            <a:solidFill>
              <a:srgbClr val="E57373"/>
            </a:solidFill>
            <a:prstDash val="dash"/>
          </a:ln>
        </p:spPr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BCFEE8F2-1DE1-878D-9AA2-058F12B92757}"/>
              </a:ext>
            </a:extLst>
          </p:cNvPr>
          <p:cNvSpPr/>
          <p:nvPr/>
        </p:nvSpPr>
        <p:spPr>
          <a:xfrm>
            <a:off x="3840480" y="1912737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179148BB-6C87-5F52-805C-1F8B09165DEC}"/>
              </a:ext>
            </a:extLst>
          </p:cNvPr>
          <p:cNvSpPr/>
          <p:nvPr/>
        </p:nvSpPr>
        <p:spPr>
          <a:xfrm>
            <a:off x="3841652" y="2027037"/>
            <a:ext cx="0" cy="269866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ACAD6AE8-25A2-BB56-6526-028F40383405}"/>
              </a:ext>
            </a:extLst>
          </p:cNvPr>
          <p:cNvSpPr/>
          <p:nvPr/>
        </p:nvSpPr>
        <p:spPr>
          <a:xfrm>
            <a:off x="3841652" y="1699318"/>
            <a:ext cx="0" cy="228600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89BA4B90-0756-E1AD-6308-44066FDDAAE1}"/>
              </a:ext>
            </a:extLst>
          </p:cNvPr>
          <p:cNvSpPr/>
          <p:nvPr/>
        </p:nvSpPr>
        <p:spPr>
          <a:xfrm>
            <a:off x="4526280" y="2735226"/>
            <a:ext cx="259666" cy="7973"/>
          </a:xfrm>
          <a:prstGeom prst="line">
            <a:avLst/>
          </a:prstGeom>
          <a:noFill/>
          <a:ln w="19050">
            <a:solidFill>
              <a:srgbClr val="2E4A8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530352" cy="5669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45389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Client-Side Security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170992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involvement — encryption, key derivation, and embedding run entirely in the browser via Web Crypto API, eliminating server-side attack surface.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75688"/>
            <a:ext cx="530352" cy="5669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75688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" y="21122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Defense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" y="23682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Compression, bitwise NOT, PBKDF2 key hardening, AES-256-CTR encryption, and HMAC-SHA256 integrity form a multi-layer defense uncommon in student-level cryptography projects.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34056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34056"/>
            <a:ext cx="530352" cy="5669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34056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277063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 Steganography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30266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is embedded inside sentence word boundaries using a structured ZWC stream — not appended at trailing positions — making it more resilient against platform-level sanitization.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39242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92424"/>
            <a:ext cx="530352" cy="5669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92424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3429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Safe-Failure Guarantee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1832" y="36850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verification with constant-time comparison ensures the system never outputs incorrect plaintext; any wrong password or corruption produces a controlled rejection.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50792"/>
            <a:ext cx="8595360" cy="566928"/>
          </a:xfrm>
          <a:prstGeom prst="rect">
            <a:avLst/>
          </a:prstGeom>
          <a:solidFill>
            <a:srgbClr val="F4F8FF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50792"/>
            <a:ext cx="530352" cy="566928"/>
          </a:xfrm>
          <a:prstGeom prst="rect">
            <a:avLst/>
          </a:prstGeom>
          <a:solidFill>
            <a:srgbClr val="2E4A8A"/>
          </a:solidFill>
          <a:ln w="12700">
            <a:solidFill>
              <a:srgbClr val="2E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50792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" y="4087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Limitations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" y="43434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5-digit password space is intentionally constrained for demo purposes; aggressive Unicode normalization can still strip invisible characters on some platforms.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1633</Words>
  <Application>Microsoft Office PowerPoint</Application>
  <PresentationFormat>On-screen Show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Sasi Kiran</cp:lastModifiedBy>
  <cp:revision>6</cp:revision>
  <dcterms:created xsi:type="dcterms:W3CDTF">2026-04-14T09:31:35Z</dcterms:created>
  <dcterms:modified xsi:type="dcterms:W3CDTF">2026-04-14T09:55:01Z</dcterms:modified>
</cp:coreProperties>
</file>